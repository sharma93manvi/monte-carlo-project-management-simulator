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47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 autoAdjust="0"/>
    <p:restoredTop sz="82313" autoAdjust="0"/>
  </p:normalViewPr>
  <p:slideViewPr>
    <p:cSldViewPr snapToGrid="0">
      <p:cViewPr varScale="1">
        <p:scale>
          <a:sx n="104" d="100"/>
          <a:sy n="104" d="100"/>
        </p:scale>
        <p:origin x="22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5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36E17BB-4CBB-4410-8CFA-ECDED00EFE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B89EB8A-EA7F-4044-9D67-D9B3F7345DA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E805831-290B-D793-1285-9907006DBC6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ADEFDA4-A9E0-4E3F-9BF5-17AB0F75DDC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9CC524B-A1CD-45E5-89FC-566C2209AB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6883D06-AFE0-4B5D-BB76-5352F144C8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6F524E9-53A5-E147-A1B2-E33A1D60389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CB899C-B3B2-4B72-9AFF-5CA3A542A650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167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Sauder School of Business">
            <a:extLst>
              <a:ext uri="{FF2B5EF4-FFF2-40B4-BE49-F238E27FC236}">
                <a16:creationId xmlns:a16="http://schemas.microsoft.com/office/drawing/2014/main" id="{1DA6012C-8A6A-4605-2D43-6620C274E3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6159500"/>
            <a:ext cx="1738312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Line 7">
            <a:extLst>
              <a:ext uri="{FF2B5EF4-FFF2-40B4-BE49-F238E27FC236}">
                <a16:creationId xmlns:a16="http://schemas.microsoft.com/office/drawing/2014/main" id="{F0A1A6CE-6DF7-004F-A544-6914C8BA1A9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20236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23155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903551A-606C-33F4-2B8B-F470AE758B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091DE5-3BAC-4A4D-B13D-7E99D77B96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861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5D38DE5-4B24-855F-68C2-F98B81ED49E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64019-B7FB-014C-B69C-077C29CBAB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61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AB9BC4-F066-8B9E-8F66-D99B6B46B5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89984F-50A3-2E4D-A5C8-BB912267C0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84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B5D1799-DBD0-F2A6-7F63-0639F523806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66DAB-4B94-0041-93D5-6887E2E912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739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A462C76-96BF-C2F0-634C-69AC668B376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8FA414-DEC6-3C49-8C53-C2C78ACEA3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09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978CDBC6-A2C3-BB47-1B7C-86342D6F8D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0E7F45-FA11-5B4B-8006-8276A256C3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35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D5B7358-8DC4-2066-B9DC-8537FE9FB8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FC4F17-9B65-B149-9B22-C83B518B16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186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47AF55-FC04-D3BD-6B05-A7A639A3C5C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B73075-B3D2-EF45-9A4D-7C1F83324C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2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36A4371-304A-2114-5664-14F10C0AD3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454975-B70A-5C4D-B736-A9AB7FE2C3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7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D220D54-2031-BB42-2EEA-2175D5A3BD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FC8C0-1CDC-BE4F-AF4F-FD37253831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441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54E7CF9-33A7-1706-0082-1F87FDF42B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230E89-A702-2247-81DC-1A32F190FD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00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32A4AD-18D9-2B08-41C3-5840DD202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C9D8E7-7D68-A2BB-F4D4-8D1167171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8" descr="Sauder School of Business">
            <a:extLst>
              <a:ext uri="{FF2B5EF4-FFF2-40B4-BE49-F238E27FC236}">
                <a16:creationId xmlns:a16="http://schemas.microsoft.com/office/drawing/2014/main" id="{01C7D45E-2A54-50AD-7ACC-955F4D59C4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6383338"/>
            <a:ext cx="126523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Line 10">
            <a:extLst>
              <a:ext uri="{FF2B5EF4-FFF2-40B4-BE49-F238E27FC236}">
                <a16:creationId xmlns:a16="http://schemas.microsoft.com/office/drawing/2014/main" id="{661A1AE6-FBA5-8426-A223-8898CF3150C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37313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0E444953-E856-4E39-81D0-ECEA6D6D82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50013"/>
            <a:ext cx="7581900" cy="417512"/>
          </a:xfrm>
          <a:prstGeom prst="rect">
            <a:avLst/>
          </a:prstGeom>
          <a:solidFill>
            <a:srgbClr val="669900"/>
          </a:solidFill>
          <a:ln w="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82ED2AF9-0259-4F11-9013-8DA673A443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776538" y="6481763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D422A13-E99E-4C43-85A7-8587FEACA49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8" r:id="rId1"/>
    <p:sldLayoutId id="2147484527" r:id="rId2"/>
    <p:sldLayoutId id="2147484528" r:id="rId3"/>
    <p:sldLayoutId id="2147484529" r:id="rId4"/>
    <p:sldLayoutId id="2147484530" r:id="rId5"/>
    <p:sldLayoutId id="2147484531" r:id="rId6"/>
    <p:sldLayoutId id="2147484532" r:id="rId7"/>
    <p:sldLayoutId id="2147484533" r:id="rId8"/>
    <p:sldLayoutId id="2147484534" r:id="rId9"/>
    <p:sldLayoutId id="2147484535" r:id="rId10"/>
    <p:sldLayoutId id="2147484536" r:id="rId11"/>
    <p:sldLayoutId id="214748453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 bwMode="auto">
          <a:xfrm>
            <a:off x="560387" y="-40627"/>
            <a:ext cx="8229600" cy="6050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600" dirty="0"/>
              <a:t>Project Management: Computer Design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7CB564-1096-41CC-82F9-A97B4A1B354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564455"/>
            <a:ext cx="9144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628042"/>
            <a:ext cx="9144000" cy="5839666"/>
          </a:xfrm>
        </p:spPr>
        <p:txBody>
          <a:bodyPr/>
          <a:lstStyle/>
          <a:p>
            <a:pPr>
              <a:defRPr/>
            </a:pPr>
            <a:r>
              <a:rPr lang="en-CA" altLang="en-US" sz="2000" dirty="0">
                <a:latin typeface="Calibri" pitchFamily="34" charset="0"/>
                <a:cs typeface="Times New Roman" pitchFamily="18" charset="0"/>
              </a:rPr>
              <a:t>A project manager has come up with the following information for a computer design project. It involves the following activities, precedence relationships, and estimated durations for activity completion (in weeks):</a:t>
            </a:r>
          </a:p>
          <a:p>
            <a:pPr>
              <a:defRPr/>
            </a:pPr>
            <a:endParaRPr lang="en-CA" altLang="en-US" sz="20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CA" altLang="en-US" sz="20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CA" altLang="en-US" sz="20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CA" altLang="en-US" sz="20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CA" altLang="en-US" sz="20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CA" altLang="en-US" sz="2000" dirty="0">
              <a:latin typeface="Calibri" pitchFamily="34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CA" altLang="en-US" sz="2400" dirty="0">
              <a:latin typeface="Calibri" pitchFamily="34" charset="0"/>
              <a:cs typeface="Times New Roman" pitchFamily="18" charset="0"/>
            </a:endParaRPr>
          </a:p>
          <a:p>
            <a:pPr>
              <a:buFont typeface="+mj-lt"/>
              <a:buAutoNum type="alphaUcPeriod"/>
              <a:defRPr/>
            </a:pPr>
            <a:r>
              <a:rPr lang="en-CA" altLang="en-US" sz="1800" dirty="0">
                <a:latin typeface="Calibri" pitchFamily="34" charset="0"/>
                <a:cs typeface="Times New Roman" pitchFamily="18" charset="0"/>
              </a:rPr>
              <a:t>Considering uncertainty, what do you estimate as the mean duration of the project?</a:t>
            </a:r>
          </a:p>
          <a:p>
            <a:pPr>
              <a:buFont typeface="+mj-lt"/>
              <a:buAutoNum type="alphaUcPeriod"/>
              <a:defRPr/>
            </a:pPr>
            <a:r>
              <a:rPr lang="en-CA" altLang="en-US" sz="1800" dirty="0">
                <a:latin typeface="Calibri" pitchFamily="34" charset="0"/>
                <a:cs typeface="Times New Roman" pitchFamily="18" charset="0"/>
              </a:rPr>
              <a:t>Create a histogram to reflect the possible durations.</a:t>
            </a:r>
          </a:p>
          <a:p>
            <a:pPr>
              <a:buFont typeface="+mj-lt"/>
              <a:buAutoNum type="alphaUcPeriod"/>
              <a:defRPr/>
            </a:pPr>
            <a:r>
              <a:rPr lang="en-CA" altLang="en-US" sz="1800" dirty="0">
                <a:latin typeface="Calibri" pitchFamily="34" charset="0"/>
                <a:cs typeface="Times New Roman" pitchFamily="18" charset="0"/>
              </a:rPr>
              <a:t>What forecasted completion time would you provide if you wanted a “95% service level.” (i.e., if you wanted a 95% chance of completing the project within that timeframe). </a:t>
            </a:r>
          </a:p>
          <a:p>
            <a:pPr>
              <a:buFont typeface="+mj-lt"/>
              <a:buAutoNum type="alphaUcPeriod"/>
              <a:defRPr/>
            </a:pPr>
            <a:r>
              <a:rPr lang="en-CA" altLang="en-US" sz="1800" dirty="0">
                <a:latin typeface="Calibri" pitchFamily="34" charset="0"/>
                <a:cs typeface="Times New Roman" pitchFamily="18" charset="0"/>
              </a:rPr>
              <a:t>Create and submit a flexible, user-friendly </a:t>
            </a:r>
            <a:r>
              <a:rPr lang="en-CA" altLang="en-US" sz="1800" dirty="0" err="1">
                <a:latin typeface="Calibri" pitchFamily="34" charset="0"/>
                <a:cs typeface="Times New Roman" pitchFamily="18" charset="0"/>
              </a:rPr>
              <a:t>Streamlit</a:t>
            </a:r>
            <a:r>
              <a:rPr lang="en-CA" altLang="en-US" sz="1800" dirty="0">
                <a:latin typeface="Calibri" pitchFamily="34" charset="0"/>
                <a:cs typeface="Times New Roman" pitchFamily="18" charset="0"/>
              </a:rPr>
              <a:t> app that lets user answer these questions for this project, but can also be used to analyze </a:t>
            </a:r>
            <a:r>
              <a:rPr lang="en-CA" altLang="en-US" sz="1800" i="1" dirty="0">
                <a:latin typeface="Calibri" pitchFamily="34" charset="0"/>
                <a:cs typeface="Times New Roman" pitchFamily="18" charset="0"/>
              </a:rPr>
              <a:t>any </a:t>
            </a:r>
            <a:r>
              <a:rPr lang="en-CA" altLang="en-US" sz="1800" dirty="0">
                <a:latin typeface="Calibri" pitchFamily="34" charset="0"/>
                <a:cs typeface="Times New Roman" pitchFamily="18" charset="0"/>
              </a:rPr>
              <a:t>project! Using your tool</a:t>
            </a:r>
            <a:r>
              <a:rPr lang="en-CA" altLang="en-US" sz="1800">
                <a:latin typeface="Calibri" pitchFamily="34" charset="0"/>
                <a:cs typeface="Times New Roman" pitchFamily="18" charset="0"/>
              </a:rPr>
              <a:t>, also submit </a:t>
            </a:r>
            <a:r>
              <a:rPr lang="en-CA" altLang="en-US" sz="1800" dirty="0">
                <a:latin typeface="Calibri" pitchFamily="34" charset="0"/>
                <a:cs typeface="Times New Roman" pitchFamily="18" charset="0"/>
              </a:rPr>
              <a:t>a Word doc with your responses to A, B, and C. </a:t>
            </a:r>
            <a:endParaRPr lang="en-US" altLang="en-US" sz="18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US" altLang="en-US" sz="18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US" altLang="en-US" sz="18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US" altLang="en-US" sz="18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US" altLang="en-US" sz="18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US" altLang="en-US" sz="1800" dirty="0">
              <a:latin typeface="Calibri" pitchFamily="34" charset="0"/>
              <a:cs typeface="Times New Roman" pitchFamily="18" charset="0"/>
            </a:endParaRPr>
          </a:p>
          <a:p>
            <a:pPr>
              <a:defRPr/>
            </a:pPr>
            <a:endParaRPr lang="en-US" altLang="en-US" sz="1800" dirty="0">
              <a:latin typeface="Calibri" pitchFamily="34" charset="0"/>
              <a:cs typeface="Times New Roman" pitchFamily="18" charset="0"/>
            </a:endParaRPr>
          </a:p>
          <a:p>
            <a:pPr marL="0" indent="0">
              <a:buFontTx/>
              <a:buNone/>
              <a:defRPr/>
            </a:pPr>
            <a:endParaRPr lang="en-US" altLang="en-US" sz="2000" dirty="0"/>
          </a:p>
          <a:p>
            <a:pPr>
              <a:defRPr/>
            </a:pPr>
            <a:endParaRPr lang="en-US" altLang="en-US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81700"/>
              </p:ext>
            </p:extLst>
          </p:nvPr>
        </p:nvGraphicFramePr>
        <p:xfrm>
          <a:off x="351400" y="1617584"/>
          <a:ext cx="8435974" cy="25765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260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1121151842"/>
                    </a:ext>
                  </a:extLst>
                </a:gridCol>
              </a:tblGrid>
              <a:tr h="560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b="1" dirty="0">
                          <a:effectLst/>
                        </a:rPr>
                        <a:t>Activity</a:t>
                      </a:r>
                      <a:endParaRPr lang="en-CA" sz="16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b="1" dirty="0">
                          <a:effectLst/>
                        </a:rPr>
                        <a:t>Label</a:t>
                      </a:r>
                      <a:endParaRPr lang="en-CA" sz="16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b="1" dirty="0">
                          <a:effectLst/>
                        </a:rPr>
                        <a:t>Immediate predecessors</a:t>
                      </a:r>
                      <a:endParaRPr lang="en-CA" sz="16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b="1" dirty="0">
                          <a:effectLst/>
                        </a:rPr>
                        <a:t>Minimum duration</a:t>
                      </a:r>
                      <a:endParaRPr lang="en-CA" sz="16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b="1" dirty="0"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Average duration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b="1" dirty="0">
                          <a:effectLst/>
                        </a:rPr>
                        <a:t>Maximum duration</a:t>
                      </a:r>
                      <a:endParaRPr lang="en-CA" sz="16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Design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A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-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16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Build prototype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B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A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Evaluate equipment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C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A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Test prototype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D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B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7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Write equipment report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E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C,D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CA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Write methods report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F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C,D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A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Write final report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>
                          <a:effectLst/>
                        </a:rPr>
                        <a:t>G</a:t>
                      </a:r>
                      <a:endParaRPr lang="en-CA" sz="16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dirty="0">
                          <a:effectLst/>
                        </a:rPr>
                        <a:t>E,F</a:t>
                      </a:r>
                      <a:endParaRPr lang="en-CA" sz="16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4736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17789</TotalTime>
  <Words>219</Words>
  <Application>Microsoft Macintosh PowerPoint</Application>
  <PresentationFormat>On-screen Show (4:3)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Default Design</vt:lpstr>
      <vt:lpstr>Project Management: Computer Design</vt:lpstr>
    </vt:vector>
  </TitlesOfParts>
  <Company>Sauder School of Business, 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shechter</dc:creator>
  <cp:lastModifiedBy>Shechter, Steven</cp:lastModifiedBy>
  <cp:revision>339</cp:revision>
  <dcterms:created xsi:type="dcterms:W3CDTF">2006-10-24T20:12:19Z</dcterms:created>
  <dcterms:modified xsi:type="dcterms:W3CDTF">2026-04-15T05:18:39Z</dcterms:modified>
</cp:coreProperties>
</file>